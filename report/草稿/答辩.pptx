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6" r:id="rId12"/>
    <p:sldId id="267" r:id="rId13"/>
    <p:sldId id="268" r:id="rId14"/>
    <p:sldId id="269" r:id="rId15"/>
    <p:sldId id="273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6641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开场：自我介绍 + 一句话点题：在 e-ophtha 数据集上对比三种方法做眼底渗出液分割，重点讲清楚方法选择与结果背后的原因。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四部分：背景→数据→方法→结果。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 早期无症状、等视力下降常已晚；筛查图像量大、人工标注贵 → 自动化是刚需。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正因前景极少，Accuracy 形同虚设（全预测背景就有 99.6%）；这些难点直接决定了后面的方法与指标选择。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也可提一句：数据方附带的 resize/去光照 目录不完整且测试匿名化无法对齐，故只用原图+原始标注、统一处理。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强调：三种方法共享同一预处理，保证对比公平。配图正好展示 原图→去光照+CLAHE→金标准→叠加。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递进逻辑：线性(LR) → 非线性(SVM) → 深度(U-Net)，正好对应'手工特征+局部分类'到'端到端上下文学习'。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LR 系数图：L=11.1、B=10.1、b=9.3 居前，形态学特征(tophat)权重小 → 线性模型主要靠原始亮度/黄度，这也解释了它误报多(任何亮黄像素都报)。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20D05-CB24-3EC1-5005-D3E8F0E6F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9264C4-023A-75FF-8530-C67BDBB6D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42662-E786-7B7C-6347-31B38BF7E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LR 系数图：L=11.1、B=10.1、b=9.3 居前，形态学特征(tophat)权重小 → 线性模型主要靠原始亮度/黄度，这也解释了它误报多(任何亮黄像素都报)。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FE607-5916-0405-FD41-C4246B7102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12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跳跃连接=恢复空间细节；预训练编码器是小样本能work的关键。训练曲线说明收敛稳定。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真实数字(可直接填)：
LR  学习3.0s | Recall .428 | Prec .048 | F1 .086 | IoU .045 | Dice .086 | ROC .842 | PR .152
SVM 学习1.1s | Recall .260 | Prec .043 | F1 .074 | IoU .038 | Dice .074 | ROC .812 | PR .107
U-Net 学习45s | Recall .434 | Prec .536 | F1 .480 | IoU .316 | Dice .480 | ROC .926 | PR .687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要点：ROC 三者都高(被海量真阴性压缩)；PR-AUC 才拉开差距 U-Net .69 ≫ LR .15 &gt; SVM .11。混淆矩阵：U-Net 假阳仅 4383，而 LR 98715 / SVM 67248。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这页最直观：让评委一眼看到 U-Net 误报少、贴合好。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这是全场最有深度的一页，重点讲透①和②。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一句收束：方法选择要匹配数据特性(不平衡 / 小样本 / 易混淆)。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预设可能问题：为何 SVM 不如 LR？阈值为何 0.95？如何进一步降低误报？数据增强细节？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788920"/>
            <a:ext cx="3657600" cy="0"/>
          </a:xfrm>
          <a:prstGeom prst="line">
            <a:avLst/>
          </a:prstGeom>
          <a:noFill/>
          <a:ln w="25400">
            <a:solidFill>
              <a:srgbClr val="3A6E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视网膜眼底图像的渗出液分割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传统机器学习（逻辑回归 / SVM）与 U-Net 的对比研究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E2985F-D059-A6EB-5157-944A8729B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04" y="388654"/>
            <a:ext cx="11091672" cy="20345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CF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1783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一、研究背景与任务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CF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9456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二、数据划分与预处理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CF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94560" y="3886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三、实验方法与理论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48920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CF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94560" y="4937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四、结果与原因分析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一、研究背景与任务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206240"/>
          </a:xfrm>
          <a:prstGeom prst="roundRect">
            <a:avLst>
              <a:gd name="adj" fmla="val 1087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39" y="1662598"/>
            <a:ext cx="7268331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糖尿病视网膜病变（DR）是全球主要致盲病因之一，且早期常无症状，</a:t>
            </a:r>
            <a:r>
              <a:rPr lang="zh-CN" altLang="zh-CN" sz="2000" b="1" dirty="0"/>
              <a:t>早筛早治至关重要</a:t>
            </a:r>
            <a:r>
              <a:rPr lang="zh-CN" altLang="zh-CN" sz="2000" dirty="0"/>
              <a:t>。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硬性渗出液</a:t>
            </a:r>
            <a:r>
              <a:rPr lang="zh-CN" altLang="zh-CN" sz="2000" dirty="0"/>
              <a:t>是 DR 最重要的早期标志物之一：视网膜血管渗漏形成的亮黄色脂质沉积斑块。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对渗出液</a:t>
            </a:r>
            <a:r>
              <a:rPr lang="zh-CN" altLang="zh-CN" sz="2000" b="1" dirty="0"/>
              <a:t>自动分割</a:t>
            </a:r>
            <a:r>
              <a:rPr lang="zh-CN" altLang="zh-CN" sz="2000" dirty="0"/>
              <a:t>，可支撑大规模筛查、量化病情、减轻医生阅片负担。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但筛查图像量巨大、人工标注昂贵 —— 自动化方法是临床刚需。</a:t>
            </a:r>
            <a:endParaRPr lang="en-US" altLang="zh-CN" sz="2000" dirty="0"/>
          </a:p>
          <a:p>
            <a:endParaRPr lang="zh-CN" altLang="zh-CN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一、研究背景与任务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任务定义与核心难点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206240"/>
          </a:xfrm>
          <a:prstGeom prst="roundRect">
            <a:avLst>
              <a:gd name="adj" fmla="val 1087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732008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zh-CN" sz="2000" b="1" dirty="0"/>
              <a:t>任务建模：</a:t>
            </a:r>
            <a:r>
              <a:rPr lang="zh-CN" altLang="zh-CN" sz="2000" dirty="0"/>
              <a:t> 把渗出液分割视作「逐像素二分类」（语义分割）。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/>
              <a:t>难点</a:t>
            </a:r>
            <a:r>
              <a:rPr lang="en-US" altLang="zh-CN" sz="2000" b="1" dirty="0"/>
              <a:t>1 </a:t>
            </a:r>
            <a:r>
              <a:rPr lang="zh-CN" altLang="zh-CN" sz="2000" b="1" dirty="0"/>
              <a:t> 极端类别不平衡：</a:t>
            </a:r>
            <a:r>
              <a:rPr lang="zh-CN" altLang="zh-CN" sz="2000" dirty="0"/>
              <a:t> 渗出液前景仅占视野约 </a:t>
            </a:r>
            <a:r>
              <a:rPr lang="zh-CN" altLang="zh-CN" sz="2000" b="1" dirty="0"/>
              <a:t>0.43%</a:t>
            </a:r>
            <a:r>
              <a:rPr lang="zh-CN" altLang="zh-CN" sz="2000" dirty="0"/>
              <a:t>（测试集 271 万像素中仅约 1.16 万正样本）→ Accuracy 形同虚设（全预测背景即达 99.6%）。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/>
              <a:t>难点</a:t>
            </a:r>
            <a:r>
              <a:rPr lang="en-US" altLang="zh-CN" sz="2000" b="1" dirty="0"/>
              <a:t>2</a:t>
            </a:r>
            <a:r>
              <a:rPr lang="zh-CN" altLang="zh-CN" sz="2000" b="1" dirty="0"/>
              <a:t> 易混淆结构：</a:t>
            </a:r>
            <a:r>
              <a:rPr lang="zh-CN" altLang="zh-CN" sz="2000" dirty="0"/>
              <a:t> 视盘、血管反光、成像伪影「又亮又像渗出」，是误报主要来源。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/>
              <a:t>难点</a:t>
            </a:r>
            <a:r>
              <a:rPr lang="en-US" altLang="zh-CN" sz="2000" b="1" dirty="0"/>
              <a:t>3</a:t>
            </a:r>
            <a:r>
              <a:rPr lang="zh-CN" altLang="zh-CN" sz="2000" b="1" dirty="0"/>
              <a:t> 小样本：</a:t>
            </a:r>
            <a:r>
              <a:rPr lang="zh-CN" altLang="zh-CN" sz="2000" dirty="0"/>
              <a:t> 仅 47 张，深度模型易过拟合。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/>
              <a:t>难点</a:t>
            </a:r>
            <a:r>
              <a:rPr lang="en-US" altLang="zh-CN" sz="2000" b="1" dirty="0"/>
              <a:t>4</a:t>
            </a:r>
            <a:r>
              <a:rPr lang="zh-CN" altLang="zh-CN" sz="2000" b="1" dirty="0"/>
              <a:t> 光照不均：</a:t>
            </a:r>
            <a:r>
              <a:rPr lang="zh-CN" altLang="zh-CN" sz="2000" dirty="0"/>
              <a:t> 同一张图不同区域亮度差异大。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E53A691-EBEE-DCE4-FBDE-D13DFD4B6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328" y="1733995"/>
            <a:ext cx="3207734" cy="21384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二、数据划分与预处理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数据集与划分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4206240"/>
          </a:xfrm>
          <a:prstGeom prst="roundRect">
            <a:avLst>
              <a:gd name="adj" fmla="val 1087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6490" y="2182943"/>
            <a:ext cx="49507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zh-CN" sz="2000" dirty="0"/>
              <a:t>数据集：e-ophtha EX，47 张带像素级渗出液标注的彩色眼底图。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dirty="0"/>
              <a:t>沿用给定划分：32 训练 / 15 测试。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dirty="0"/>
              <a:t>再从训练集切出约 18%（5–6 张）作验证集。</a:t>
            </a:r>
          </a:p>
        </p:txBody>
      </p:sp>
      <p:sp>
        <p:nvSpPr>
          <p:cNvPr id="8" name="Shape 6"/>
          <p:cNvSpPr/>
          <p:nvPr/>
        </p:nvSpPr>
        <p:spPr>
          <a:xfrm>
            <a:off x="6217633" y="1554480"/>
            <a:ext cx="5349240" cy="4206240"/>
          </a:xfrm>
          <a:prstGeom prst="roundRect">
            <a:avLst>
              <a:gd name="adj" fmla="val 1087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zh-CN" sz="2000" dirty="0"/>
              <a:t>测试集全程隔离、仅最终评估用 → 无偏的泛化估计。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dirty="0"/>
              <a:t>验证集用于模型选择（U-Net 早停）+ 判定阈值搜索 → 调参不碰测试集，避免数据泄漏。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dirty="0"/>
              <a:t>小数据（47 张）下，三分法是结论可信的关键。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二、数据划分与预处理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39"/>
            <a:ext cx="11091672" cy="1829949"/>
          </a:xfrm>
          <a:prstGeom prst="roundRect">
            <a:avLst>
              <a:gd name="adj" fmla="val 2941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5628"/>
            <a:ext cx="10634472" cy="1676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zh-CN" sz="1400" dirty="0"/>
              <a:t>① </a:t>
            </a:r>
            <a:r>
              <a:rPr lang="zh-CN" altLang="zh-CN" sz="1400" b="1" dirty="0"/>
              <a:t>统一缩放 672×448</a:t>
            </a:r>
            <a:r>
              <a:rPr lang="zh-CN" altLang="zh-CN" sz="1400" dirty="0"/>
              <a:t>：尺寸统一便于批训练；保留约 1.5:1 长宽比；可被 32 整除以适配编码器。</a:t>
            </a:r>
          </a:p>
          <a:p>
            <a:r>
              <a:rPr lang="zh-CN" altLang="zh-CN" sz="1400" dirty="0"/>
              <a:t>② </a:t>
            </a:r>
            <a:r>
              <a:rPr lang="zh-CN" altLang="zh-CN" sz="1400" b="1" dirty="0"/>
              <a:t>FOV 视野掩膜</a:t>
            </a:r>
            <a:r>
              <a:rPr lang="zh-CN" altLang="zh-CN" sz="1400" dirty="0"/>
              <a:t>：排除眼底四周黑边，所有指标只在视野内统计。</a:t>
            </a:r>
          </a:p>
          <a:p>
            <a:r>
              <a:rPr lang="zh-CN" altLang="zh-CN" sz="1400" dirty="0"/>
              <a:t>③ </a:t>
            </a:r>
            <a:r>
              <a:rPr lang="zh-CN" altLang="zh-CN" sz="1400" b="1" dirty="0"/>
              <a:t>去光照（亮度归一化）</a:t>
            </a:r>
            <a:r>
              <a:rPr lang="zh-CN" altLang="zh-CN" sz="1400" dirty="0"/>
              <a:t>：大尺度背景估计并减除，消除不均匀照明。</a:t>
            </a:r>
          </a:p>
          <a:p>
            <a:r>
              <a:rPr lang="zh-CN" altLang="zh-CN" sz="1400" dirty="0"/>
              <a:t>④ </a:t>
            </a:r>
            <a:r>
              <a:rPr lang="zh-CN" altLang="zh-CN" sz="1400" b="1" dirty="0"/>
              <a:t>CLAHE 对比增强</a:t>
            </a:r>
            <a:r>
              <a:rPr lang="zh-CN" altLang="zh-CN" sz="1400" dirty="0"/>
              <a:t>：限制对比度自适应均衡，突出亮病灶。</a:t>
            </a:r>
          </a:p>
          <a:p>
            <a:r>
              <a:rPr lang="zh-CN" altLang="zh-CN" sz="1400" dirty="0"/>
              <a:t>⑤ </a:t>
            </a:r>
            <a:r>
              <a:rPr lang="zh-CN" altLang="zh-CN" sz="1400" b="1" dirty="0"/>
              <a:t>特征标准化</a:t>
            </a:r>
            <a:r>
              <a:rPr lang="zh-CN" altLang="zh-CN" sz="1400" dirty="0"/>
              <a:t>（LR/SVM 对尺度敏感）；U-Net 用 ImageNet 归一化 + 数据增强。</a:t>
            </a:r>
          </a:p>
          <a:p>
            <a:r>
              <a:rPr lang="zh-CN" altLang="zh-CN" sz="1400" dirty="0"/>
              <a:t>三种方法</a:t>
            </a:r>
            <a:r>
              <a:rPr lang="zh-CN" altLang="zh-CN" sz="1400" b="1" dirty="0"/>
              <a:t>共享同一预处理</a:t>
            </a:r>
            <a:r>
              <a:rPr lang="zh-CN" altLang="zh-CN" sz="1400" dirty="0"/>
              <a:t>，保证对比公平。</a:t>
            </a:r>
          </a:p>
          <a:p>
            <a:r>
              <a:rPr lang="zh-CN" altLang="zh-CN" sz="1400" dirty="0"/>
              <a:t>读图：原图 → 去光照+CLAHE → 金标准掩膜 → 渗出液叠加。</a:t>
            </a:r>
          </a:p>
        </p:txBody>
      </p:sp>
      <p:sp>
        <p:nvSpPr>
          <p:cNvPr id="8" name="Shape 6"/>
          <p:cNvSpPr/>
          <p:nvPr/>
        </p:nvSpPr>
        <p:spPr>
          <a:xfrm>
            <a:off x="548640" y="3384430"/>
            <a:ext cx="11091672" cy="3017520"/>
          </a:xfrm>
          <a:prstGeom prst="roundRect">
            <a:avLst>
              <a:gd name="adj" fmla="val 1515"/>
            </a:avLst>
          </a:prstGeom>
          <a:solidFill>
            <a:srgbClr val="FCFCFC"/>
          </a:solidFill>
          <a:ln w="12700">
            <a:solidFill>
              <a:srgbClr val="CFCFCF"/>
            </a:solidFill>
            <a:prstDash val="dash"/>
          </a:ln>
        </p:spPr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67A7802-B947-A958-951A-BD9446869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30827"/>
            <a:ext cx="11091672" cy="20345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三、实验方法与理论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6F6F6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06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逻辑回归 LR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线性分类器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手工特征 + 标准化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33088" y="3246120"/>
            <a:ext cx="329184" cy="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80560" y="237744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6F6F6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606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SVM (RBF)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Nystroem 近似 + 线性SVM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90688" y="3246120"/>
            <a:ext cx="329184" cy="0"/>
          </a:xfrm>
          <a:prstGeom prst="line">
            <a:avLst/>
          </a:prstGeom>
          <a:noFill/>
          <a:ln w="1905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237744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6F6F6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606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U-Net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3200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预训练编码器 + 跳跃连接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CN" altLang="zh-CN" sz="2000" b="1" dirty="0"/>
              <a:t>统一评价口径</a:t>
            </a:r>
            <a:r>
              <a:rPr lang="zh-CN" altLang="zh-CN" sz="2000" dirty="0"/>
              <a:t>：同预处理 · 同 32/15 划分 · 同指标计算 → 公平对比。</a:t>
            </a:r>
            <a:endParaRPr lang="en-US" altLang="zh-CN" sz="2000" dirty="0"/>
          </a:p>
          <a:p>
            <a:pPr algn="ctr"/>
            <a:r>
              <a:rPr lang="zh-CN" altLang="zh-CN" sz="2000" dirty="0"/>
              <a:t>三者均把分割视作逐像素二分类。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C701A65-1A48-5DFB-C305-8B5912FDCC40}"/>
              </a:ext>
            </a:extLst>
          </p:cNvPr>
          <p:cNvSpPr txBox="1"/>
          <p:nvPr/>
        </p:nvSpPr>
        <p:spPr>
          <a:xfrm>
            <a:off x="2987040" y="15922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zh-CN" dirty="0"/>
              <a:t>设每个像素的特征向量为 </a:t>
            </a:r>
            <a:r>
              <a:rPr lang="zh-CN" altLang="zh-CN" b="1" dirty="0"/>
              <a:t>x ∈ ℝ¹⁴</a:t>
            </a:r>
            <a:r>
              <a:rPr lang="zh-CN" altLang="zh-CN" dirty="0"/>
              <a:t>（14 维手工特征），标签 y</a:t>
            </a:r>
            <a:r>
              <a:rPr lang="en-US" altLang="zh-CN" dirty="0"/>
              <a:t> = {1, 0}</a:t>
            </a:r>
            <a:r>
              <a:rPr lang="zh-CN" altLang="zh-CN" dirty="0"/>
              <a:t>（渗出=1，背景=0）。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三、实验方法与理论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方法一：逻辑回归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4"/>
              <p:cNvSpPr/>
              <p:nvPr/>
            </p:nvSpPr>
            <p:spPr>
              <a:xfrm>
                <a:off x="548640" y="1463040"/>
                <a:ext cx="6492240" cy="4480560"/>
              </a:xfrm>
              <a:prstGeom prst="roundRect">
                <a:avLst>
                  <a:gd name="adj" fmla="val 1020"/>
                </a:avLst>
              </a:prstGeom>
              <a:solidFill>
                <a:srgbClr val="F6F6F6"/>
              </a:solid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zh-CN" sz="1600" dirty="0"/>
                  <a:t>LR 先对特征做线性打分（logit）：</a:t>
                </a:r>
                <a:endParaRPr lang="en-US" altLang="zh-C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sz="1600" dirty="0"/>
              </a:p>
              <a:p>
                <a:r>
                  <a:rPr lang="zh-CN" altLang="zh-CN" sz="1600" dirty="0"/>
                  <a:t>再用 Sigmoid 把分数压到 (0,1) 作为"渗出"的概率：</a:t>
                </a:r>
                <a:endParaRPr lang="en-US" altLang="zh-C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∣"/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zh-CN" sz="1600" i="1" dirty="0" smtClean="0">
                                          <a:latin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  <m:sup>
                                      <m:r>
                                        <a:rPr lang="zh-CN" altLang="zh-CN" sz="1600" i="1" dirty="0" smtClean="0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1600" dirty="0"/>
              </a:p>
              <a:p>
                <a:pPr/>
                <a:r>
                  <a:rPr lang="zh-CN" altLang="zh-CN" sz="1600" dirty="0"/>
                  <a:t>对概率取 logit 可得</a:t>
                </a:r>
                <a:r>
                  <a:rPr lang="zh-CN" altLang="zh-CN" sz="1600" b="1" dirty="0"/>
                  <a:t>对数几率（log-odds）关于特征线性</a:t>
                </a:r>
                <a:r>
                  <a:rPr lang="zh-CN" altLang="zh-CN" sz="1600" dirty="0"/>
                  <a:t>：</a:t>
                </a:r>
                <a:br>
                  <a:rPr lang="zh-CN" altLang="zh-CN" sz="16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sz="160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sepChr m:val="∣"/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sepChr m:val="∣"/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zh-CN" sz="1600" dirty="0"/>
              </a:p>
              <a:p>
                <a:r>
                  <a:rPr lang="zh-CN" altLang="zh-CN" sz="1600" dirty="0"/>
                  <a:t>决策边界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p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zh-CN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sz="1600" dirty="0"/>
                  <a:t>是特征空间里的一张</a:t>
                </a:r>
                <a:r>
                  <a:rPr lang="zh-CN" altLang="zh-CN" sz="1600" b="1" dirty="0"/>
                  <a:t>超平面</a:t>
                </a:r>
                <a:r>
                  <a:rPr lang="zh-CN" altLang="zh-CN" sz="1600" dirty="0"/>
                  <a:t>。</a:t>
                </a:r>
              </a:p>
              <a:p>
                <a:r>
                  <a:rPr lang="zh-CN" altLang="zh-CN" sz="1600" dirty="0"/>
                  <a:t>权重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600" dirty="0"/>
                  <a:t>的含义：特征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600" dirty="0"/>
                  <a:t>每增加一个单位，对数几率改变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CN" altLang="zh-CN" sz="16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1600" dirty="0"/>
                  <a:t>→ </a:t>
                </a:r>
                <a:r>
                  <a:rPr lang="zh-CN" altLang="zh-CN" sz="1600" b="1" dirty="0"/>
                  <a:t>系数即特征重要性</a:t>
                </a:r>
                <a:r>
                  <a:rPr lang="zh-CN" altLang="en-US" sz="1600" b="1" dirty="0"/>
                  <a:t>。</a:t>
                </a:r>
                <a:endParaRPr lang="en-US" altLang="zh-CN" sz="1600" b="1" dirty="0"/>
              </a:p>
              <a:p>
                <a:endParaRPr lang="en-US" altLang="zh-CN" sz="1600" b="1" dirty="0"/>
              </a:p>
              <a:p>
                <a:r>
                  <a:rPr lang="zh-CN" altLang="en-US" sz="1600" b="1" dirty="0"/>
                  <a:t>交叉熵损失函数：</a:t>
                </a:r>
                <a:endParaRPr lang="zh-CN" altLang="zh-C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e>
                        <m:sup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zh-CN" sz="1600" i="1" dirty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ctrlP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1600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zh-CN" sz="16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zh-CN" sz="1600" i="0" dirty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zh-CN" sz="1600" i="0" dirty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sz="1600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zh-CN" sz="16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sz="1600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zh-CN" altLang="zh-CN" sz="160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, </m:t>
                      </m:r>
                    </m:oMath>
                  </m:oMathPara>
                </a14:m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zh-CN" sz="16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zh-CN" sz="160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zh-CN" altLang="zh-CN" sz="1600" i="1" dirty="0" smtClean="0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zh-CN" sz="16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zh-CN" sz="1600" dirty="0"/>
              </a:p>
              <a:p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endParaRPr lang="en-US" altLang="zh-CN" sz="1600" dirty="0"/>
              </a:p>
              <a:p>
                <a:endParaRPr lang="zh-CN" altLang="zh-CN" sz="1600" dirty="0"/>
              </a:p>
              <a:p>
                <a:endParaRPr lang="zh-CN" altLang="zh-CN" sz="1600" dirty="0"/>
              </a:p>
              <a:p>
                <a:br>
                  <a:rPr lang="zh-CN" altLang="zh-CN" sz="1600" dirty="0"/>
                </a:br>
                <a:endParaRPr lang="zh-CN" altLang="zh-CN" sz="1600" dirty="0"/>
              </a:p>
              <a:p>
                <a:endParaRPr lang="zh-CN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6" name="Shap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463040"/>
                <a:ext cx="6492240" cy="4480560"/>
              </a:xfrm>
              <a:prstGeom prst="roundRect">
                <a:avLst>
                  <a:gd name="adj" fmla="val 1020"/>
                </a:avLst>
              </a:prstGeom>
              <a:blipFill>
                <a:blip r:embed="rId3"/>
                <a:stretch>
                  <a:fillRect l="-187"/>
                </a:stretch>
              </a:blip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777240" y="164592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endParaRPr lang="zh-CN" altLang="zh-CN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5734" y="4279392"/>
            <a:ext cx="44165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zh-CN" sz="1600" dirty="0"/>
              <a:t>LR 权重最大的是 </a:t>
            </a:r>
            <a:r>
              <a:rPr lang="zh-CN" altLang="zh-CN" sz="1600" b="1" dirty="0"/>
              <a:t>L（亮度）、b（黄度）、颜色通道</a:t>
            </a:r>
            <a:r>
              <a:rPr lang="zh-CN" altLang="zh-CN" sz="1600" dirty="0"/>
              <a:t>，形态学特征权重很小 → 说明「亮+黄」在线性层面已大体可分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BFEEC70-4C28-ED1F-A233-6BA2A7A6A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652985"/>
            <a:ext cx="5066261" cy="24903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5C801-194E-0177-143A-21F45F54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0631B3-DDD8-BCE3-07E0-A8C6DEDD607A}"/>
              </a:ext>
            </a:extLst>
          </p:cNvPr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三、实验方法与理论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52A4E9-5074-AE26-D54B-AB7FBC245AD5}"/>
              </a:ext>
            </a:extLst>
          </p:cNvPr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方法二：SVM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349766-C492-8C6F-56AB-A07E12FD8576}"/>
              </a:ext>
            </a:extLst>
          </p:cNvPr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56CD20-A1EA-52BA-D400-2665B1F4B888}"/>
              </a:ext>
            </a:extLst>
          </p:cNvPr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</a:rPr>
              <a:t>9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4">
                <a:extLst>
                  <a:ext uri="{FF2B5EF4-FFF2-40B4-BE49-F238E27FC236}">
                    <a16:creationId xmlns:a16="http://schemas.microsoft.com/office/drawing/2014/main" id="{A9637F0E-AA79-42E8-1107-50B702B5F463}"/>
                  </a:ext>
                </a:extLst>
              </p:cNvPr>
              <p:cNvSpPr/>
              <p:nvPr/>
            </p:nvSpPr>
            <p:spPr>
              <a:xfrm>
                <a:off x="548640" y="1463040"/>
                <a:ext cx="5547360" cy="4480560"/>
              </a:xfrm>
              <a:prstGeom prst="roundRect">
                <a:avLst>
                  <a:gd name="adj" fmla="val 1020"/>
                </a:avLst>
              </a:prstGeom>
              <a:solidFill>
                <a:srgbClr val="F6F6F6"/>
              </a:solid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en-US" altLang="zh-CN" b="1" dirty="0">
                    <a:latin typeface="Cambria Math" panose="02040503050406030204" pitchFamily="18" charset="0"/>
                  </a:rPr>
                  <a:t>3.2.1 </a:t>
                </a:r>
                <a:r>
                  <a:rPr lang="zh-CN" altLang="en-US" b="1" dirty="0">
                    <a:latin typeface="Cambria Math" panose="02040503050406030204" pitchFamily="18" charset="0"/>
                  </a:rPr>
                  <a:t>软性间隔</a:t>
                </a:r>
                <a:endParaRPr lang="en-US" altLang="zh-CN" b="1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/>
                  <a:t>该数据不可完全线性可分，故引入松弛变量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zh-CN" i="0" dirty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lit/>
                            </m:rPr>
                            <a:rPr lang="zh-CN" altLang="zh-CN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f>
                        <m:fPr>
                          <m:ctrlPr>
                            <a:rPr lang="zh-CN" altLang="zh-C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e>
                        <m:sup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zh-CN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zh-CN" i="1" dirty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zh-C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zh-CN" i="0" dirty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zh-CN" altLang="zh-CN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zh-CN" altLang="zh-CN" i="0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zh-CN" altLang="zh-CN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 </m:t>
                      </m:r>
                      <m:sSub>
                        <m:sSub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≥1−</m:t>
                      </m:r>
                      <m:sSub>
                        <m:sSub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zh-CN" altLang="zh-CN" i="1" dirty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zh-CN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zh-CN" i="1" dirty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zh-CN" dirty="0"/>
                  <a:t>C 权衡"间隔大"与"分类错误少"。</a:t>
                </a:r>
                <a:endParaRPr lang="en-US" altLang="zh-CN" dirty="0"/>
              </a:p>
              <a:p>
                <a:endParaRPr lang="en-US" altLang="zh-CN" sz="2000" dirty="0"/>
              </a:p>
              <a:p>
                <a:r>
                  <a:rPr lang="en-US" altLang="zh-CN" b="1" dirty="0"/>
                  <a:t>3.2.2 </a:t>
                </a:r>
                <a:r>
                  <a:rPr lang="zh-CN" altLang="en-US" b="1" dirty="0"/>
                  <a:t>精确核</a:t>
                </a:r>
                <a:r>
                  <a:rPr lang="en-US" altLang="zh-CN" b="1" dirty="0"/>
                  <a:t>SVM</a:t>
                </a:r>
                <a:r>
                  <a:rPr lang="zh-CN" altLang="en-US" b="1" dirty="0"/>
                  <a:t>会暴露问题：</a:t>
                </a:r>
                <a:endParaRPr lang="en-US" altLang="zh-CN" b="1" dirty="0"/>
              </a:p>
              <a:p>
                <a:r>
                  <a:rPr lang="zh-CN" altLang="zh-CN" dirty="0"/>
                  <a:t>精确核 SVM：训练约 </a:t>
                </a:r>
                <a14:m>
                  <m:oMath xmlns:m="http://schemas.openxmlformats.org/officeDocument/2006/math"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∼</m:t>
                        </m:r>
                        <m:sSup>
                          <m:sSupPr>
                            <m:ctrlPr>
                              <a:rPr lang="zh-CN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zh-CN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zh-CN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dirty="0"/>
                  <a:t>，预测约 O(</a:t>
                </a:r>
                <a:r>
                  <a:rPr lang="zh-CN" altLang="en-US" dirty="0"/>
                  <a:t>数据像素 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支持</m:t>
                    </m:r>
                  </m:oMath>
                </a14:m>
                <a:r>
                  <a:rPr lang="zh-CN" altLang="en-US" dirty="0"/>
                  <a:t>向量</a:t>
                </a:r>
                <a:r>
                  <a:rPr lang="zh-CN" altLang="zh-CN" dirty="0"/>
                  <a:t>)。本任务训练/预测涉及</a:t>
                </a:r>
                <a:r>
                  <a:rPr lang="zh-CN" altLang="zh-CN" b="1" dirty="0"/>
                  <a:t>数百万像素</a:t>
                </a:r>
                <a:r>
                  <a:rPr lang="zh-CN" altLang="zh-CN" dirty="0"/>
                  <a:t>，支持向量上万</a:t>
                </a:r>
                <a:r>
                  <a:rPr lang="zh-CN" altLang="en-US" dirty="0"/>
                  <a:t>，</a:t>
                </a:r>
                <a:r>
                  <a:rPr lang="zh-CN" altLang="zh-CN" dirty="0"/>
                  <a:t>会</a:t>
                </a:r>
                <a:r>
                  <a:rPr lang="zh-CN" altLang="en-US" dirty="0"/>
                  <a:t>直接</a:t>
                </a:r>
                <a:r>
                  <a:rPr lang="zh-CN" altLang="zh-CN" dirty="0"/>
                  <a:t>卡死。</a:t>
                </a:r>
              </a:p>
              <a:p>
                <a:endParaRPr lang="en-US" altLang="zh-CN" b="1" dirty="0"/>
              </a:p>
              <a:p>
                <a:endParaRPr lang="zh-CN" altLang="zh-CN" dirty="0"/>
              </a:p>
              <a:p>
                <a:endParaRPr lang="zh-CN" altLang="zh-CN" dirty="0"/>
              </a:p>
              <a:p>
                <a:endParaRPr lang="zh-CN" altLang="zh-CN" dirty="0"/>
              </a:p>
              <a:p>
                <a:endParaRPr lang="zh-CN" altLang="zh-CN" dirty="0"/>
              </a:p>
              <a:p>
                <a:endParaRPr lang="zh-CN" altLang="zh-CN" dirty="0"/>
              </a:p>
              <a:p>
                <a:endParaRPr lang="en-US" altLang="zh-CN" b="1" dirty="0">
                  <a:latin typeface="Cambria Math" panose="02040503050406030204" pitchFamily="18" charset="0"/>
                </a:endParaRPr>
              </a:p>
              <a:p>
                <a:endParaRPr lang="en-US" altLang="zh-CN" sz="1600" dirty="0"/>
              </a:p>
              <a:p>
                <a:endParaRPr lang="zh-CN" altLang="zh-CN" sz="1600" dirty="0"/>
              </a:p>
              <a:p>
                <a:endParaRPr lang="zh-CN" altLang="zh-CN" sz="1600" dirty="0"/>
              </a:p>
              <a:p>
                <a:br>
                  <a:rPr lang="zh-CN" altLang="zh-CN" sz="1600" dirty="0"/>
                </a:br>
                <a:endParaRPr lang="zh-CN" altLang="zh-CN" sz="1600" dirty="0"/>
              </a:p>
              <a:p>
                <a:endParaRPr lang="zh-CN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6" name="Shape 4">
                <a:extLst>
                  <a:ext uri="{FF2B5EF4-FFF2-40B4-BE49-F238E27FC236}">
                    <a16:creationId xmlns:a16="http://schemas.microsoft.com/office/drawing/2014/main" id="{A9637F0E-AA79-42E8-1107-50B702B5F4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463040"/>
                <a:ext cx="5547360" cy="4480560"/>
              </a:xfrm>
              <a:prstGeom prst="roundRect">
                <a:avLst>
                  <a:gd name="adj" fmla="val 1020"/>
                </a:avLst>
              </a:prstGeom>
              <a:blipFill>
                <a:blip r:embed="rId3"/>
                <a:stretch>
                  <a:fillRect l="-548" t="-543" r="-658"/>
                </a:stretch>
              </a:blip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>
            <a:extLst>
              <a:ext uri="{FF2B5EF4-FFF2-40B4-BE49-F238E27FC236}">
                <a16:creationId xmlns:a16="http://schemas.microsoft.com/office/drawing/2014/main" id="{7711AA34-E92D-1ACB-EB4E-408D13B41788}"/>
              </a:ext>
            </a:extLst>
          </p:cNvPr>
          <p:cNvSpPr/>
          <p:nvPr/>
        </p:nvSpPr>
        <p:spPr>
          <a:xfrm>
            <a:off x="777240" y="164592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</a:pPr>
            <a:endParaRPr lang="zh-CN" altLang="zh-CN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4">
                <a:extLst>
                  <a:ext uri="{FF2B5EF4-FFF2-40B4-BE49-F238E27FC236}">
                    <a16:creationId xmlns:a16="http://schemas.microsoft.com/office/drawing/2014/main" id="{24D7CCA3-6D48-B1C0-8C0B-0AB08EF89253}"/>
                  </a:ext>
                </a:extLst>
              </p:cNvPr>
              <p:cNvSpPr/>
              <p:nvPr/>
            </p:nvSpPr>
            <p:spPr>
              <a:xfrm>
                <a:off x="6248400" y="1463040"/>
                <a:ext cx="5391912" cy="4480560"/>
              </a:xfrm>
              <a:prstGeom prst="roundRect">
                <a:avLst>
                  <a:gd name="adj" fmla="val 1020"/>
                </a:avLst>
              </a:prstGeom>
              <a:solidFill>
                <a:srgbClr val="F6F6F6"/>
              </a:solid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en-US" altLang="zh-CN" b="1" dirty="0"/>
                  <a:t>3.2.3 </a:t>
                </a:r>
                <a:r>
                  <a:rPr lang="zh-CN" altLang="en-US" b="1" dirty="0"/>
                  <a:t>改用</a:t>
                </a:r>
                <a:r>
                  <a:rPr lang="en-US" altLang="zh-CN" b="1" dirty="0" err="1"/>
                  <a:t>Nystroem</a:t>
                </a:r>
                <a:r>
                  <a:rPr lang="zh-CN" altLang="en-US" b="1" dirty="0"/>
                  <a:t>核近似</a:t>
                </a:r>
                <a:endParaRPr lang="en-US" altLang="zh-CN" b="1" dirty="0"/>
              </a:p>
              <a:p>
                <a:r>
                  <a:rPr lang="zh-CN" altLang="zh-CN" dirty="0"/>
                  <a:t>从训练样本里取 m 个地标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zh-CN" altLang="zh-CN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𝐣</m:t>
                        </m:r>
                      </m:sub>
                    </m:sSub>
                    <m:sSubSup>
                      <m:sSubSupPr>
                        <m:ctrlPr>
                          <a:rPr lang="zh-CN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zh-CN" altLang="zh-CN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b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𝐣</m:t>
                        </m:r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zh-CN" altLang="zh-CN" i="1" dirty="0">
                            <a:latin typeface="Cambria Math" panose="02040503050406030204" pitchFamily="18" charset="0"/>
                          </a:rPr>
                          <m:t>𝐦</m:t>
                        </m:r>
                      </m:sup>
                    </m:sSubSup>
                  </m:oMath>
                </a14:m>
                <a:r>
                  <a:rPr lang="zh-CN" altLang="zh-CN" dirty="0"/>
                  <a:t>（ m=200），用地标间的核矩阵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𝐣</m:t>
                            </m:r>
                          </m:sub>
                        </m:sSub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𝐤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dirty="0"/>
                  <a:t>构造</a:t>
                </a:r>
                <a:r>
                  <a:rPr lang="zh-CN" altLang="zh-CN" b="1" dirty="0"/>
                  <a:t>显式</a:t>
                </a:r>
                <a:r>
                  <a:rPr lang="zh-CN" altLang="zh-CN" dirty="0"/>
                  <a:t>特征映射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acc>
                      <m:d>
                        <m:d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m:rPr>
                              <m:lit/>
                            </m:r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𝐳</m:t>
                                      </m:r>
                                    </m:e>
                                    <m:sub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𝐳</m:t>
                                      </m:r>
                                    </m:e>
                                    <m:sub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𝐦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𝕞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r>
                  <a:rPr lang="zh-CN" altLang="zh-CN" dirty="0"/>
                  <a:t>使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acc>
                    <m:sSup>
                      <m:sSup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  <m:sup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acc>
                      <m:accPr>
                        <m:chr m:val="̂"/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acc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dirty="0"/>
                  <a:t>（本质是对核 Gram 矩阵做低秩逼近）。映射后</a:t>
                </a:r>
                <a:r>
                  <a:rPr lang="zh-CN" altLang="zh-CN" b="1" dirty="0"/>
                  <a:t>接线性 SVM</a:t>
                </a:r>
                <a:r>
                  <a:rPr lang="zh-CN" altLang="zh-CN" dirty="0"/>
                  <a:t>，训练/预测降到约 </a:t>
                </a:r>
                <a14:m>
                  <m:oMath xmlns:m="http://schemas.openxmlformats.org/officeDocument/2006/math"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zh-CN" dirty="0"/>
              </a:p>
              <a:p>
                <a:endParaRPr lang="zh-CN" altLang="zh-CN" dirty="0"/>
              </a:p>
              <a:p>
                <a:endParaRPr lang="zh-CN" altLang="zh-CN" dirty="0"/>
              </a:p>
              <a:p>
                <a:endParaRPr lang="en-US" altLang="zh-CN" dirty="0"/>
              </a:p>
              <a:p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endParaRPr lang="en-US" altLang="zh-CN" sz="1600" dirty="0"/>
              </a:p>
              <a:p>
                <a:endParaRPr lang="zh-CN" altLang="zh-CN" sz="1600" dirty="0"/>
              </a:p>
              <a:p>
                <a:endParaRPr lang="zh-CN" altLang="zh-CN" sz="1600" dirty="0"/>
              </a:p>
              <a:p>
                <a:br>
                  <a:rPr lang="zh-CN" altLang="zh-CN" sz="1600" dirty="0"/>
                </a:br>
                <a:endParaRPr lang="zh-CN" altLang="zh-CN" sz="1600" dirty="0"/>
              </a:p>
              <a:p>
                <a:endParaRPr lang="zh-CN" altLang="zh-CN" sz="1600" dirty="0"/>
              </a:p>
              <a:p>
                <a:endParaRPr lang="en-US" altLang="zh-CN" sz="1600" dirty="0"/>
              </a:p>
            </p:txBody>
          </p:sp>
        </mc:Choice>
        <mc:Fallback xmlns="">
          <p:sp>
            <p:nvSpPr>
              <p:cNvPr id="8" name="Shape 4">
                <a:extLst>
                  <a:ext uri="{FF2B5EF4-FFF2-40B4-BE49-F238E27FC236}">
                    <a16:creationId xmlns:a16="http://schemas.microsoft.com/office/drawing/2014/main" id="{24D7CCA3-6D48-B1C0-8C0B-0AB08EF892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1463040"/>
                <a:ext cx="5391912" cy="4480560"/>
              </a:xfrm>
              <a:prstGeom prst="roundRect">
                <a:avLst>
                  <a:gd name="adj" fmla="val 1020"/>
                </a:avLst>
              </a:prstGeom>
              <a:blipFill>
                <a:blip r:embed="rId4"/>
                <a:stretch>
                  <a:fillRect l="-564" t="-271" r="-338"/>
                </a:stretch>
              </a:blip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EC112B14-9CA4-7E73-FFCD-7C2ED247D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4523" y="4204141"/>
            <a:ext cx="1729210" cy="16198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9A70959-6C41-99C9-8420-A77B6777D8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2481" y="4083482"/>
            <a:ext cx="1729210" cy="176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149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9813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三、实验方法与理论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方法三：U-Net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</a:rPr>
              <a:t>10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4"/>
              <p:cNvSpPr/>
              <p:nvPr/>
            </p:nvSpPr>
            <p:spPr>
              <a:xfrm>
                <a:off x="548640" y="1463039"/>
                <a:ext cx="6492240" cy="5174244"/>
              </a:xfrm>
              <a:prstGeom prst="roundRect">
                <a:avLst>
                  <a:gd name="adj" fmla="val 1020"/>
                </a:avLst>
              </a:prstGeom>
              <a:solidFill>
                <a:srgbClr val="F6F6F6"/>
              </a:solid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en-US" altLang="zh-CN" b="1" dirty="0"/>
                  <a:t>3.3.1 U-Net</a:t>
                </a:r>
                <a:r>
                  <a:rPr lang="zh-CN" altLang="en-US" b="1" dirty="0"/>
                  <a:t>结构</a:t>
                </a:r>
                <a:endParaRPr lang="en-US" altLang="zh-CN" b="1" dirty="0"/>
              </a:p>
              <a:p>
                <a:r>
                  <a:rPr lang="zh-CN" altLang="zh-CN" b="1" dirty="0"/>
                  <a:t>编码器（</a:t>
                </a:r>
                <a:r>
                  <a:rPr lang="zh-CN" altLang="en-US" b="1" dirty="0"/>
                  <a:t>向下采样</a:t>
                </a:r>
                <a:r>
                  <a:rPr lang="zh-CN" altLang="zh-CN" b="1" dirty="0"/>
                  <a:t>）</a:t>
                </a:r>
                <a:r>
                  <a:rPr lang="zh-CN" altLang="zh-CN" dirty="0"/>
                  <a:t>：</a:t>
                </a:r>
                <a:r>
                  <a:rPr lang="zh-CN" altLang="en-US" dirty="0"/>
                  <a:t>使用预训练过的</a:t>
                </a:r>
                <a:r>
                  <a:rPr lang="en-US" altLang="zh-CN" b="1" dirty="0"/>
                  <a:t>ResNet34</a:t>
                </a:r>
                <a:r>
                  <a:rPr lang="zh-CN" altLang="en-US" dirty="0"/>
                  <a:t>，缓解梯度消失，</a:t>
                </a:r>
                <a:r>
                  <a:rPr lang="zh-CN" altLang="zh-CN" dirty="0"/>
                  <a:t>重复 卷积块 + 池化/步长卷积，空间分辨率逐级减半、通道数逐级加倍 → 提取由浅到深的语义、扩大感受野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zh-CN" b="1" dirty="0"/>
                  <a:t>解码器（</a:t>
                </a:r>
                <a:r>
                  <a:rPr lang="zh-CN" altLang="en-US" b="1" dirty="0"/>
                  <a:t>向上采样</a:t>
                </a:r>
                <a:r>
                  <a:rPr lang="zh-CN" altLang="zh-CN" b="1" dirty="0"/>
                  <a:t>）</a:t>
                </a:r>
                <a:r>
                  <a:rPr lang="zh-CN" altLang="zh-CN" dirty="0"/>
                  <a:t>：用</a:t>
                </a:r>
                <a:r>
                  <a:rPr lang="zh-CN" altLang="zh-CN" b="1" dirty="0"/>
                  <a:t>转置卷积</a:t>
                </a:r>
                <a:r>
                  <a:rPr lang="zh-CN" altLang="zh-CN" dirty="0"/>
                  <a:t>或插值逐级上采样，恢复分辨率。</a:t>
                </a:r>
                <a:endParaRPr lang="en-US" altLang="zh-CN" dirty="0"/>
              </a:p>
              <a:p>
                <a:r>
                  <a:rPr lang="zh-CN" altLang="zh-CN" b="1" dirty="0"/>
                  <a:t>跳跃连接</a:t>
                </a:r>
                <a:r>
                  <a:rPr lang="zh-CN" altLang="zh-CN" dirty="0"/>
                  <a:t>：把编码器同尺度的特征图拼接到解码器对应层。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b="1" dirty="0"/>
                  <a:t>3.3.2 </a:t>
                </a:r>
                <a:r>
                  <a:rPr lang="zh-CN" altLang="en-US" b="1" dirty="0"/>
                  <a:t>损失函数</a:t>
                </a:r>
                <a:endParaRPr lang="en-US" altLang="zh-CN" b="1" dirty="0"/>
              </a:p>
              <a:p>
                <a:r>
                  <a:rPr lang="zh-CN" altLang="en-US" dirty="0"/>
                  <a:t>训练时用加权二元交叉熵（</a:t>
                </a:r>
                <a:r>
                  <a:rPr lang="en-US" altLang="zh-CN" dirty="0"/>
                  <a:t>BCE</a:t>
                </a:r>
                <a:r>
                  <a:rPr lang="zh-CN" altLang="en-US" dirty="0"/>
                  <a:t>）和</a:t>
                </a:r>
                <a:r>
                  <a:rPr lang="en-US" altLang="zh-CN" dirty="0"/>
                  <a:t>Tversky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Loss</a:t>
                </a:r>
                <a:r>
                  <a:rPr lang="zh-CN" altLang="en-US" dirty="0"/>
                  <a:t>，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ℬ𝒞ℰ</m:t>
                          </m:r>
                        </m:sub>
                      </m:sSub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zh-CN" dirty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zh-CN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zh-CN" dirty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zh-CN" i="1" dirty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zh-CN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zh-CN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𝑇𝐼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zh-CN" i="1" dirty="0"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zh-CN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zh-CN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zh-CN" altLang="zh-CN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zh-CN" altLang="zh-CN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𝑇𝑣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𝑇𝐼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𝐵𝐶𝐸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zh-CN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CN" altLang="zh-CN" i="1" dirty="0" smtClean="0">
                          <a:latin typeface="Cambria Math" panose="02040503050406030204" pitchFamily="18" charset="0"/>
                        </a:rPr>
                        <m:t>𝑇𝑣</m:t>
                      </m:r>
                    </m:oMath>
                  </m:oMathPara>
                </a14:m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Shap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463039"/>
                <a:ext cx="6492240" cy="5174244"/>
              </a:xfrm>
              <a:prstGeom prst="roundRect">
                <a:avLst>
                  <a:gd name="adj" fmla="val 1020"/>
                </a:avLst>
              </a:prstGeom>
              <a:blipFill>
                <a:blip r:embed="rId3"/>
                <a:stretch>
                  <a:fillRect l="-469" t="-235"/>
                </a:stretch>
              </a:blipFill>
              <a:ln w="9525">
                <a:solidFill>
                  <a:srgbClr val="CFCFC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777240" y="164592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CDE537A-E5EF-A343-39B5-4A69FF9B1D05}"/>
                  </a:ext>
                </a:extLst>
              </p:cNvPr>
              <p:cNvSpPr txBox="1"/>
              <p:nvPr/>
            </p:nvSpPr>
            <p:spPr>
              <a:xfrm>
                <a:off x="548640" y="5602144"/>
                <a:ext cx="609731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zh-CN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lit/>
                      </m:rPr>
                      <a:rPr lang="zh-CN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zh-CN" altLang="zh-CN" i="1" dirty="0">
                        <a:latin typeface="Cambria Math" panose="02040503050406030204" pitchFamily="18" charset="0"/>
                      </a:rPr>
                      <m:t>𝟕</m:t>
                    </m:r>
                  </m:oMath>
                </a14:m>
                <a:r>
                  <a:rPr lang="zh-CN" altLang="zh-CN" dirty="0"/>
                  <a:t>，即</a:t>
                </a:r>
                <a:r>
                  <a:rPr lang="zh-CN" altLang="zh-CN" b="1" dirty="0"/>
                  <a:t>更重罚假阴</a:t>
                </a:r>
                <a:r>
                  <a:rPr lang="zh-CN" altLang="en-US" b="1" dirty="0"/>
                  <a:t>性</a:t>
                </a:r>
                <a:r>
                  <a:rPr lang="zh-CN" altLang="zh-CN" b="1" dirty="0"/>
                  <a:t>（漏检）</a:t>
                </a:r>
                <a:r>
                  <a:rPr lang="zh-CN" altLang="zh-CN" dirty="0"/>
                  <a:t>，从而提升小病灶召回。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CDE537A-E5EF-A343-39B5-4A69FF9B1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5602144"/>
                <a:ext cx="6097314" cy="646331"/>
              </a:xfrm>
              <a:prstGeom prst="rect">
                <a:avLst/>
              </a:prstGeom>
              <a:blipFill>
                <a:blip r:embed="rId4"/>
                <a:stretch>
                  <a:fillRect l="-800" t="-5660" r="-50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2142EC91-B214-11D9-3F05-E11B2DB9B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0067" y="2010358"/>
            <a:ext cx="5031933" cy="283728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401A957-413E-AE87-7A95-CCC88DB1554A}"/>
              </a:ext>
            </a:extLst>
          </p:cNvPr>
          <p:cNvSpPr txBox="1"/>
          <p:nvPr/>
        </p:nvSpPr>
        <p:spPr>
          <a:xfrm>
            <a:off x="7377868" y="5343118"/>
            <a:ext cx="43201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优化</a:t>
            </a:r>
            <a:r>
              <a:rPr lang="zh-CN" altLang="zh-CN" dirty="0"/>
              <a:t>：AdamW（lr=1e-3）+ 余弦退火 + 数据增强；60 轮，batch=8；按验证 Dice 选最佳权重。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四、结果与原因分析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527205"/>
              </p:ext>
            </p:extLst>
          </p:nvPr>
        </p:nvGraphicFramePr>
        <p:xfrm>
          <a:off x="548640" y="2807838"/>
          <a:ext cx="11064240" cy="2011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Recall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Precision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IoU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Dice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ROC-AUC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PR-AUC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逻辑回归 LR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/>
                        <a:t>3.0s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/>
                        <a:t>0.428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/>
                        <a:t>0.048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0.086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0.045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0.086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0.842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0.152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SVM (RBF)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1.1s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/>
                        <a:t>0.260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/>
                        <a:t>0.043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/>
                        <a:t>0.074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dirty="0"/>
                        <a:t>0.038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0.074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0.812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0.107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U-Net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45s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/>
                        <a:t>0.434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 dirty="0"/>
                        <a:t>0.536</a:t>
                      </a:r>
                      <a:endParaRPr lang="zh-CN" dirty="0"/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 dirty="0"/>
                        <a:t>0.480</a:t>
                      </a:r>
                      <a:endParaRPr lang="zh-CN" dirty="0"/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 dirty="0"/>
                        <a:t>0.316</a:t>
                      </a:r>
                      <a:endParaRPr lang="zh-CN" dirty="0"/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 dirty="0"/>
                        <a:t>0.480</a:t>
                      </a:r>
                      <a:endParaRPr lang="zh-CN" dirty="0"/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 dirty="0"/>
                        <a:t>0.926</a:t>
                      </a:r>
                      <a:endParaRPr lang="zh-CN" dirty="0"/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b="1" dirty="0"/>
                        <a:t>0.687</a:t>
                      </a:r>
                      <a:endParaRPr lang="zh-CN" dirty="0"/>
                    </a:p>
                  </a:txBody>
                  <a:tcPr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" y="4819518"/>
            <a:ext cx="11064240" cy="1057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CN" altLang="zh-CN" sz="2000" dirty="0"/>
              <a:t>U-Net 的 Dice 是传统方法的 </a:t>
            </a:r>
            <a:r>
              <a:rPr lang="zh-CN" altLang="zh-CN" sz="2000" b="1" dirty="0"/>
              <a:t>5–6 倍</a:t>
            </a:r>
            <a:r>
              <a:rPr lang="zh-CN" altLang="zh-CN" sz="2000" dirty="0"/>
              <a:t>、PR-AUC 约 </a:t>
            </a:r>
            <a:r>
              <a:rPr lang="zh-CN" altLang="zh-CN" sz="2000" b="1" dirty="0"/>
              <a:t>4.5–6 倍</a:t>
            </a:r>
            <a:r>
              <a:rPr lang="zh-CN" altLang="zh-CN" sz="2000" dirty="0"/>
              <a:t>；而传统方法学习时间仅 1–3 秒。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1809EC4-AA94-84E7-1F14-14E8F7425583}"/>
                  </a:ext>
                </a:extLst>
              </p:cNvPr>
              <p:cNvSpPr txBox="1"/>
              <p:nvPr/>
            </p:nvSpPr>
            <p:spPr>
              <a:xfrm>
                <a:off x="2000289" y="1437447"/>
                <a:ext cx="8862192" cy="994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sz="2400" dirty="0"/>
                  <a:t>不计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背景，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𝐷𝑖𝑐𝑒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系数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𝐷𝑖𝑐𝑒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zh-CN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zh-CN" sz="24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zh-CN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zh-CN" sz="24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zh-CN" altLang="zh-CN" sz="2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zh-CN" sz="240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zh-CN" altLang="zh-CN" sz="24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altLang="zh-CN" sz="2400" b="0" dirty="0"/>
              </a:p>
              <a:p>
                <a:pPr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1809EC4-AA94-84E7-1F14-14E8F7425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89" y="1437447"/>
                <a:ext cx="8862192" cy="994952"/>
              </a:xfrm>
              <a:prstGeom prst="rect">
                <a:avLst/>
              </a:prstGeom>
              <a:blipFill>
                <a:blip r:embed="rId3"/>
                <a:stretch>
                  <a:fillRect l="-1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E1D8AA8-9044-41E0-651F-7FEAF1229663}"/>
                  </a:ext>
                </a:extLst>
              </p:cNvPr>
              <p:cNvSpPr txBox="1"/>
              <p:nvPr/>
            </p:nvSpPr>
            <p:spPr>
              <a:xfrm>
                <a:off x="3570890" y="2142567"/>
                <a:ext cx="4099035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Dice</a:t>
                </a:r>
                <a:r>
                  <a:rPr lang="zh-CN" altLang="en-US" sz="2400" dirty="0"/>
                  <a:t>损失：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2400" i="1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𝐷𝑖𝑐𝑒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𝐷𝑖𝑐𝑒</m:t>
                    </m:r>
                  </m:oMath>
                </a14:m>
                <a:endParaRPr lang="en-US" altLang="zh-CN" sz="2400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E1D8AA8-9044-41E0-651F-7FEAF1229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890" y="2142567"/>
                <a:ext cx="4099035" cy="738664"/>
              </a:xfrm>
              <a:prstGeom prst="rect">
                <a:avLst/>
              </a:prstGeom>
              <a:blipFill>
                <a:blip r:embed="rId4"/>
                <a:stretch>
                  <a:fillRect l="-2381" t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四、结果与原因分析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结果：ROC / PR 曲线 与 混淆矩阵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4924" y="1419840"/>
            <a:ext cx="11091672" cy="2508815"/>
          </a:xfrm>
          <a:prstGeom prst="roundRect">
            <a:avLst>
              <a:gd name="adj" fmla="val 2000"/>
            </a:avLst>
          </a:prstGeom>
          <a:solidFill>
            <a:srgbClr val="FCFCFC"/>
          </a:solidFill>
          <a:ln w="12700">
            <a:solidFill>
              <a:srgbClr val="CFCFC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4924" y="4050045"/>
            <a:ext cx="11091672" cy="2583937"/>
          </a:xfrm>
          <a:prstGeom prst="roundRect">
            <a:avLst>
              <a:gd name="adj" fmla="val 2000"/>
            </a:avLst>
          </a:prstGeom>
          <a:solidFill>
            <a:srgbClr val="FCFCFC"/>
          </a:solidFill>
          <a:ln w="12700">
            <a:solidFill>
              <a:srgbClr val="CFCFCF"/>
            </a:solidFill>
            <a:prstDash val="dash"/>
          </a:ln>
        </p:spPr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F2D3806-1838-2322-FF47-AEBFE1C6A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079" y="1452585"/>
            <a:ext cx="6601733" cy="250601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D420CFA-AD7E-895D-D3C1-A20846A2E1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831" y="4079990"/>
            <a:ext cx="8080618" cy="23594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四、结果与原因分析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结果：定性分割对比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38"/>
            <a:ext cx="8229600" cy="5059417"/>
          </a:xfrm>
          <a:prstGeom prst="roundRect">
            <a:avLst>
              <a:gd name="adj" fmla="val 962"/>
            </a:avLst>
          </a:prstGeom>
          <a:solidFill>
            <a:srgbClr val="FCFCFC"/>
          </a:solidFill>
          <a:ln w="12700">
            <a:solidFill>
              <a:srgbClr val="CFCFC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915400" y="1463039"/>
            <a:ext cx="2724912" cy="5059415"/>
          </a:xfrm>
          <a:prstGeom prst="roundRect">
            <a:avLst>
              <a:gd name="adj" fmla="val 1678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0" y="1645920"/>
            <a:ext cx="22677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zh-CN" sz="1400" dirty="0"/>
              <a:t>绿 = </a:t>
            </a:r>
            <a:r>
              <a:rPr lang="en-US" altLang="zh-CN" sz="1400" dirty="0" err="1"/>
              <a:t>groundtruth</a:t>
            </a:r>
            <a:r>
              <a:rPr lang="zh-CN" altLang="zh-CN" sz="1400" dirty="0"/>
              <a:t>，</a:t>
            </a:r>
            <a:endParaRPr lang="en-US" altLang="zh-CN" sz="1400" dirty="0"/>
          </a:p>
          <a:p>
            <a:r>
              <a:rPr lang="zh-CN" altLang="zh-CN" sz="1400" dirty="0"/>
              <a:t>红 = 各方法预测。</a:t>
            </a:r>
            <a:endParaRPr lang="en-US" altLang="zh-CN" sz="1400" dirty="0"/>
          </a:p>
          <a:p>
            <a:endParaRPr lang="en-US" altLang="zh-CN" sz="1400" dirty="0"/>
          </a:p>
          <a:p>
            <a:endParaRPr lang="zh-CN" altLang="zh-CN" sz="1400" dirty="0"/>
          </a:p>
          <a:p>
            <a:r>
              <a:rPr lang="zh-CN" altLang="zh-CN" sz="1400" b="1" dirty="0"/>
              <a:t>U-Net</a:t>
            </a:r>
            <a:r>
              <a:rPr lang="zh-CN" altLang="zh-CN" sz="1400" dirty="0"/>
              <a:t>：红色预测贴合真实病灶，几乎无散点误报。</a:t>
            </a:r>
            <a:endParaRPr lang="en-US" altLang="zh-CN" sz="1400" dirty="0"/>
          </a:p>
          <a:p>
            <a:endParaRPr lang="zh-CN" altLang="zh-CN" sz="1400" dirty="0"/>
          </a:p>
          <a:p>
            <a:r>
              <a:rPr lang="zh-CN" altLang="zh-CN" sz="1400" b="1" dirty="0"/>
              <a:t>LR / SVM</a:t>
            </a:r>
            <a:r>
              <a:rPr lang="zh-CN" altLang="zh-CN" sz="1400" dirty="0"/>
              <a:t>：红点散布在血管、视盘周围 —— 大量误报。</a:t>
            </a:r>
            <a:endParaRPr lang="en-US" altLang="zh-CN" sz="1400" dirty="0"/>
          </a:p>
          <a:p>
            <a:endParaRPr lang="zh-CN" altLang="zh-CN" sz="1400" dirty="0"/>
          </a:p>
          <a:p>
            <a:r>
              <a:rPr lang="zh-CN" altLang="zh-CN" sz="1400" dirty="0"/>
              <a:t>典型</a:t>
            </a:r>
            <a:r>
              <a:rPr lang="zh-CN" altLang="en-US" sz="1400" dirty="0"/>
              <a:t>案例</a:t>
            </a:r>
            <a:r>
              <a:rPr lang="zh-CN" altLang="zh-CN" sz="1400" dirty="0"/>
              <a:t>（视盘明亮的样本）：LR/SVM 把视盘边缘误判为渗出，U-Net 正确避开。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B4879CF-9C2D-A36A-DB7A-759D05E88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710" y="1481328"/>
            <a:ext cx="6568205" cy="49011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四、结果与原因分析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26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结果原因与方法优缺点分析</a:t>
            </a:r>
            <a:endParaRPr lang="en-US" altLang="zh-CN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AA018EE-B7BE-3129-94B0-CE9059F0D5A4}"/>
              </a:ext>
            </a:extLst>
          </p:cNvPr>
          <p:cNvSpPr/>
          <p:nvPr/>
        </p:nvSpPr>
        <p:spPr>
          <a:xfrm>
            <a:off x="548640" y="1417320"/>
            <a:ext cx="11091672" cy="841248"/>
          </a:xfrm>
          <a:prstGeom prst="roundRect">
            <a:avLst>
              <a:gd name="adj" fmla="val 5435"/>
            </a:avLst>
          </a:prstGeom>
          <a:solidFill>
            <a:srgbClr val="FBF6EC"/>
          </a:solidFill>
          <a:ln w="9525">
            <a:solidFill>
              <a:srgbClr val="E8D9BE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30A2959-881E-EE22-2AD1-D99A131942B3}"/>
              </a:ext>
            </a:extLst>
          </p:cNvPr>
          <p:cNvSpPr/>
          <p:nvPr/>
        </p:nvSpPr>
        <p:spPr>
          <a:xfrm>
            <a:off x="777240" y="1463040"/>
            <a:ext cx="10652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1600" b="1" dirty="0">
                <a:solidFill>
                  <a:srgbClr val="B57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注意到</a:t>
            </a:r>
            <a:r>
              <a:rPr lang="en-US" sz="1600" b="1" dirty="0">
                <a:solidFill>
                  <a:srgbClr val="B579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6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三种方法召回率相近(~0.26–0.43)，</a:t>
            </a:r>
            <a:r>
              <a:rPr lang="zh-CN" altLang="en-US" sz="16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关键在于误报：</a:t>
            </a:r>
            <a:r>
              <a:rPr lang="en-US" sz="16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U-Net 假阳仅 4,383，而 LR/SVM 高达 6.7–9.9 万。根本差异——是否利用了空间上下文。</a:t>
            </a:r>
            <a:endParaRPr lang="en-US" sz="16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ED5B0CB-1ABD-FE83-8537-F3C1B9AECA01}"/>
              </a:ext>
            </a:extLst>
          </p:cNvPr>
          <p:cNvSpPr/>
          <p:nvPr/>
        </p:nvSpPr>
        <p:spPr>
          <a:xfrm>
            <a:off x="548640" y="2450592"/>
            <a:ext cx="3511296" cy="3246120"/>
          </a:xfrm>
          <a:prstGeom prst="roundRect">
            <a:avLst>
              <a:gd name="adj" fmla="val 1408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FD6D26D-F922-EC40-DA63-5DD43F3BF8B8}"/>
              </a:ext>
            </a:extLst>
          </p:cNvPr>
          <p:cNvSpPr/>
          <p:nvPr/>
        </p:nvSpPr>
        <p:spPr>
          <a:xfrm>
            <a:off x="713232" y="2596896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逻辑回归 LR</a:t>
            </a:r>
            <a:endParaRPr lang="en-US" sz="155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793DBC3A-A8F2-5AA9-DE1E-859397BE4238}"/>
              </a:ext>
            </a:extLst>
          </p:cNvPr>
          <p:cNvSpPr/>
          <p:nvPr/>
        </p:nvSpPr>
        <p:spPr>
          <a:xfrm>
            <a:off x="713232" y="3108960"/>
            <a:ext cx="3182112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5B2CC09-3A03-703B-0588-B0E36D9B1CD4}"/>
              </a:ext>
            </a:extLst>
          </p:cNvPr>
          <p:cNvSpPr/>
          <p:nvPr/>
        </p:nvSpPr>
        <p:spPr>
          <a:xfrm>
            <a:off x="713232" y="3227832"/>
            <a:ext cx="318211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Dice 0.086 · 精确率 0.048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zh-CN" alt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线性模型只看单像素「亮+黄」，凡亮黄皆报 → 误报泛滥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训练极快(3s)、可解释(系数即特征贡献)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线性边界、精确率极低</a:t>
            </a:r>
            <a:endParaRPr lang="en-US" sz="11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4D8A3F66-AE7A-3F67-BDD0-D84F6E38CCE1}"/>
              </a:ext>
            </a:extLst>
          </p:cNvPr>
          <p:cNvSpPr/>
          <p:nvPr/>
        </p:nvSpPr>
        <p:spPr>
          <a:xfrm>
            <a:off x="4334256" y="2450592"/>
            <a:ext cx="3511296" cy="3246120"/>
          </a:xfrm>
          <a:prstGeom prst="roundRect">
            <a:avLst>
              <a:gd name="adj" fmla="val 1408"/>
            </a:avLst>
          </a:prstGeom>
          <a:solidFill>
            <a:srgbClr val="F6F6F6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A5B91BA-3A43-7595-3D1F-DFBB5AA5C6F1}"/>
              </a:ext>
            </a:extLst>
          </p:cNvPr>
          <p:cNvSpPr/>
          <p:nvPr/>
        </p:nvSpPr>
        <p:spPr>
          <a:xfrm>
            <a:off x="4498848" y="2596896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SVM (RBF/Nystroem)</a:t>
            </a:r>
            <a:endParaRPr lang="en-US" sz="155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CAD3DB3E-FC68-5970-D686-2C9EB113DF4D}"/>
              </a:ext>
            </a:extLst>
          </p:cNvPr>
          <p:cNvSpPr/>
          <p:nvPr/>
        </p:nvSpPr>
        <p:spPr>
          <a:xfrm>
            <a:off x="4498848" y="3108960"/>
            <a:ext cx="3182112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463C8C9-A19D-07B3-8C58-9B86E5FAF48D}"/>
              </a:ext>
            </a:extLst>
          </p:cNvPr>
          <p:cNvSpPr/>
          <p:nvPr/>
        </p:nvSpPr>
        <p:spPr>
          <a:xfrm>
            <a:off x="4498848" y="3227832"/>
            <a:ext cx="318211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Dice 0.074 · 精确率 0.043（略逊 LR）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zh-CN" alt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15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虽非线性，但仍只用局部特征</a:t>
            </a:r>
            <a:r>
              <a:rPr lang="zh-CN" alt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sz="115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Nystroem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，</a:t>
            </a:r>
            <a:r>
              <a:rPr lang="en-US" sz="115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非线性增益未</a:t>
            </a:r>
            <a:r>
              <a:rPr lang="zh-CN" alt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</a:t>
            </a:r>
            <a:r>
              <a:rPr lang="en-US" sz="115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非线性、像素级可扩展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受限局部特征、本任务未超 LR、对 γ/C 敏感</a:t>
            </a:r>
            <a:endParaRPr lang="en-US" sz="11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487054E-54B0-BA1F-6E07-33AC3E7CD62E}"/>
              </a:ext>
            </a:extLst>
          </p:cNvPr>
          <p:cNvSpPr/>
          <p:nvPr/>
        </p:nvSpPr>
        <p:spPr>
          <a:xfrm>
            <a:off x="8119872" y="2450592"/>
            <a:ext cx="3511296" cy="3246120"/>
          </a:xfrm>
          <a:prstGeom prst="roundRect">
            <a:avLst>
              <a:gd name="adj" fmla="val 1408"/>
            </a:avLst>
          </a:prstGeom>
          <a:solidFill>
            <a:srgbClr val="EAF1F8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C1FFD06-BE76-3FC6-01AD-9909A7D9F1E8}"/>
              </a:ext>
            </a:extLst>
          </p:cNvPr>
          <p:cNvSpPr/>
          <p:nvPr/>
        </p:nvSpPr>
        <p:spPr>
          <a:xfrm>
            <a:off x="8284464" y="2596896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U-Net（最优）</a:t>
            </a:r>
            <a:endParaRPr lang="en-US" sz="155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5F422069-F125-3493-A161-A4350F01B1E3}"/>
              </a:ext>
            </a:extLst>
          </p:cNvPr>
          <p:cNvSpPr/>
          <p:nvPr/>
        </p:nvSpPr>
        <p:spPr>
          <a:xfrm>
            <a:off x="8284464" y="3108960"/>
            <a:ext cx="3182112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E4AA1E6-A4EE-562D-621E-6F927F4B5A40}"/>
              </a:ext>
            </a:extLst>
          </p:cNvPr>
          <p:cNvSpPr/>
          <p:nvPr/>
        </p:nvSpPr>
        <p:spPr>
          <a:xfrm>
            <a:off x="8284464" y="3227832"/>
            <a:ext cx="318211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Dice 0.480 · 精确率 0.536（碾压）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zh-CN" alt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卷积感受野利用空间上下文与形状，区分「真渗出 vs 像渗出的反光」→ 假阳骤降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精度最高、误报极少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　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 GPU、训练久、可解释性弱、依赖预训练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四、结果与原因分析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911096"/>
            <a:ext cx="146304" cy="146304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8308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深度学习(U-Net)显著优于传统方法　</a:t>
            </a: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Dice 提升约 5–6 倍；核心原因是利用空间上下文、大幅抑制误报。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962656"/>
            <a:ext cx="146304" cy="146304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346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传统方法(LR/SVM)</a:t>
            </a:r>
            <a:r>
              <a:rPr lang="en-US" sz="1700" b="1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胜在高效</a:t>
            </a:r>
            <a:r>
              <a:rPr lang="en-US" sz="17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训练仅 1–3 </a:t>
            </a:r>
            <a:r>
              <a:rPr lang="en-US" sz="1400" dirty="0" err="1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秒、但受限局部特征，难辨「亮黄但非渗出」的结构</a:t>
            </a: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4014216"/>
            <a:ext cx="146304" cy="146304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8862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极端不平衡需选对评价指标　</a:t>
            </a: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PR-AUC / Dice / 召回 为主；Accuracy 会被背景拉高而严重误导。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5065776"/>
            <a:ext cx="146304" cy="146304"/>
          </a:xfrm>
          <a:prstGeom prst="ellipse">
            <a:avLst/>
          </a:prstGeom>
          <a:solidFill>
            <a:srgbClr val="8A8A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9377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　</a:t>
            </a:r>
            <a:r>
              <a:rPr lang="en-US" sz="14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更强编码器(如 EfficientNet)、更高分辨率评测、形态学后处理进一步降假阳。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8346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敬请批评指正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</TotalTime>
  <Words>1948</Words>
  <Application>Microsoft Office PowerPoint</Application>
  <PresentationFormat>宽屏</PresentationFormat>
  <Paragraphs>260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Arial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某某 白</cp:lastModifiedBy>
  <cp:revision>4</cp:revision>
  <dcterms:created xsi:type="dcterms:W3CDTF">2026-06-14T07:55:51Z</dcterms:created>
  <dcterms:modified xsi:type="dcterms:W3CDTF">2026-06-15T15:08:17Z</dcterms:modified>
</cp:coreProperties>
</file>